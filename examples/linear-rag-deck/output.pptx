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9150" y="228600"/>
            <a:ext cx="479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Linear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2034480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1982688"/>
            <a:ext cx="1167682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5분 발표 · 통념 깨기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2372171"/>
            <a:ext cx="874395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또 LLM이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거짓말했다.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609600" y="4200971"/>
            <a:ext cx="699516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당신의 챗봇이 지난주 만든 환각, 진짜 원인은 모델이 아니라 조립 라인에 있다.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600" y="4772471"/>
            <a:ext cx="1329482" cy="312390"/>
          </a:xfrm>
          <a:prstGeom prst="roundRect">
            <a:avLst>
              <a:gd name="adj" fmla="val 24393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2950" y="4848671"/>
            <a:ext cx="10840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RAG 라인 보기 →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053382" y="4772471"/>
            <a:ext cx="1809006" cy="331440"/>
          </a:xfrm>
          <a:prstGeom prst="roundRect">
            <a:avLst>
              <a:gd name="adj" fmla="val 22991"/>
            </a:avLst>
          </a:prstGeom>
          <a:solidFill>
            <a:srgbClr val="0F1011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96257" y="4858196"/>
            <a:ext cx="15537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왜 파인튜닝이 답이 아닌가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6456462"/>
            <a:ext cx="10000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이천송정초 · 이선학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913590" y="6443663"/>
            <a:ext cx="170218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design.md / Linear · v1</a:t>
            </a:r>
            <a:endParaRPr lang="en-US" sz="9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9150" y="228600"/>
            <a:ext cx="479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Linear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1915418"/>
            <a:ext cx="962769" cy="217140"/>
          </a:xfrm>
          <a:prstGeom prst="roundRect">
            <a:avLst>
              <a:gd name="adj" fmla="val 43861322"/>
            </a:avLst>
          </a:prstGeom>
          <a:solidFill>
            <a:srgbClr val="141516"/>
          </a:solidFill>
          <a:ln w="9525">
            <a:solidFill>
              <a:srgbClr val="5E69D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4375" y="1943993"/>
            <a:ext cx="76828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5E6AD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잘못된 통념 #1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09600" y="2437358"/>
            <a:ext cx="87439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"환각은 </a:t>
            </a:r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파인튜닝으로만</a:t>
            </a:r>
            <a:pPr algn="l" indent="0" marL="0">
              <a:lnSpc>
                <a:spcPts val="3450"/>
              </a:lnSpc>
              <a:buNone/>
            </a:pPr>
            <a:r>
              <a:rPr lang="en-US" sz="300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 잡는다"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9600" y="3180308"/>
            <a:ext cx="6256782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675"/>
              </a:lnSpc>
              <a:buNone/>
            </a:pPr>
            <a:r>
              <a:rPr lang="en-US" sz="1650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1,000</a:t>
            </a:r>
            <a:pPr algn="l" indent="0" marL="0">
              <a:lnSpc>
                <a:spcPts val="15675"/>
              </a:lnSpc>
              <a:buNone/>
            </a:pPr>
            <a:r>
              <a:rPr lang="en-US" sz="7200" b="1" dirty="0">
                <a:solidFill>
                  <a:srgbClr val="5E6AD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×</a:t>
            </a:r>
            <a:endParaRPr lang="en-US" sz="16500" dirty="0"/>
          </a:p>
        </p:txBody>
      </p:sp>
      <p:sp>
        <p:nvSpPr>
          <p:cNvPr id="8" name="Text 6"/>
          <p:cNvSpPr/>
          <p:nvPr/>
        </p:nvSpPr>
        <p:spPr>
          <a:xfrm>
            <a:off x="7200900" y="3605659"/>
            <a:ext cx="4469130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한 번 잡는 데 드는 비용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200900" y="3918942"/>
            <a:ext cx="4469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파인튜닝 1회 학습 vs RAG 1회 응답.</a:t>
            </a:r>
            <a:endParaRPr lang="en-US" sz="1350" dirty="0"/>
          </a:p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같은 환각 1건을 잡는 데 드는 비용 차이.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200900" y="4660850"/>
            <a:ext cx="152400" cy="9525"/>
          </a:xfrm>
          <a:prstGeom prst="rect">
            <a:avLst/>
          </a:prstGeom>
          <a:solidFill>
            <a:srgbClr val="3434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429500" y="4585692"/>
            <a:ext cx="190499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Anthropic API · 2026 가격표 환산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9600" y="6456462"/>
            <a:ext cx="99249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비용은 진짜 적이다.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784235" y="6443663"/>
            <a:ext cx="81412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stat · cost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9150" y="228600"/>
            <a:ext cx="479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Linear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966192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914400"/>
            <a:ext cx="540880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조립 라인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151483"/>
            <a:ext cx="111922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RAG는 단계 셋이다.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9600" y="1665833"/>
            <a:ext cx="111922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en-US" sz="135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프롬프트 한 번이 모델에 닿기 전에 — 검색하고, 끼워 넣고, 그제서야 생성한다.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09600" y="2227808"/>
            <a:ext cx="3555950" cy="4020592"/>
          </a:xfrm>
          <a:prstGeom prst="roundRect">
            <a:avLst>
              <a:gd name="adj" fmla="val 3214"/>
            </a:avLst>
          </a:prstGeom>
          <a:solidFill>
            <a:srgbClr val="0F1011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725" y="2465933"/>
            <a:ext cx="148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5E6AD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69032" y="2473077"/>
            <a:ext cx="6981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RETRIEVE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47725" y="2804071"/>
            <a:ext cx="314129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사실을 끌어온다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47725" y="3218408"/>
            <a:ext cx="314129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벡터 DB에서 질문과 의미가 가까운 문서 조각 k개를 가져온다. 모델은 아직 손대지 않는다.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47725" y="5731222"/>
            <a:ext cx="30797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7725" y="5850285"/>
            <a:ext cx="31412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vector_db.search(q, k=4)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317950" y="2227808"/>
            <a:ext cx="3555950" cy="4020592"/>
          </a:xfrm>
          <a:prstGeom prst="roundRect">
            <a:avLst>
              <a:gd name="adj" fmla="val 3214"/>
            </a:avLst>
          </a:prstGeom>
          <a:solidFill>
            <a:srgbClr val="0F1011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556075" y="2465933"/>
            <a:ext cx="148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5E6AD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4777383" y="2473077"/>
            <a:ext cx="7257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AUGMENT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56075" y="2804071"/>
            <a:ext cx="3141294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프롬프트에 끼워 넣는다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4556075" y="3218408"/>
            <a:ext cx="314129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검색된 사실을 시스템 프롬프트 안에 컨텍스트로 박는다. "이 자료만 보고 답하라"는 지시와 함께.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56075" y="5731222"/>
            <a:ext cx="30797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56075" y="5850285"/>
            <a:ext cx="314129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prompt = ctx + question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026301" y="2227808"/>
            <a:ext cx="3556099" cy="4020592"/>
          </a:xfrm>
          <a:prstGeom prst="roundRect">
            <a:avLst>
              <a:gd name="adj" fmla="val 3214"/>
            </a:avLst>
          </a:prstGeom>
          <a:solidFill>
            <a:srgbClr val="0F1011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264426" y="2465933"/>
            <a:ext cx="14801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b="1" dirty="0">
                <a:solidFill>
                  <a:srgbClr val="5E6AD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8485733" y="2473077"/>
            <a:ext cx="767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GENERATE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64426" y="2804071"/>
            <a:ext cx="3141446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63"/>
              </a:lnSpc>
              <a:buNone/>
            </a:pPr>
            <a:r>
              <a:rPr lang="en-US" sz="1650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제약 안에서 답한다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8264426" y="3218408"/>
            <a:ext cx="314144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모델은 컨텍스트 밖으로 나갈 동기가 줄어든다. 환각이 줄고, 출처를 박을 수 있게 된다.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64426" y="5731222"/>
            <a:ext cx="3079849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64426" y="5850285"/>
            <a:ext cx="314144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claude.messages.create(...)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9600" y="6456462"/>
            <a:ext cx="121686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학습이 아니라 조립이다.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78268" y="6443663"/>
            <a:ext cx="214621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retrieve → augment → generate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9150" y="228600"/>
            <a:ext cx="479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Linear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966192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914400"/>
            <a:ext cx="956370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한 장 다이어그램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151483"/>
            <a:ext cx="111922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조립 라인의 부품들.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9600" y="1818233"/>
            <a:ext cx="10972800" cy="2605980"/>
          </a:xfrm>
          <a:prstGeom prst="roundRect">
            <a:avLst>
              <a:gd name="adj" fmla="val 5848"/>
            </a:avLst>
          </a:prstGeom>
          <a:solidFill>
            <a:srgbClr val="0F1011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47725" y="2392561"/>
            <a:ext cx="1049655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7725" y="212675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34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981075" y="212675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34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114425" y="2126754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34343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540852" y="2071985"/>
            <a:ext cx="11101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A8F9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rag_pipeline.py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897195" y="2056358"/>
            <a:ext cx="447080" cy="217140"/>
          </a:xfrm>
          <a:prstGeom prst="roundRect">
            <a:avLst>
              <a:gd name="adj" fmla="val 43861322"/>
            </a:avLst>
          </a:prstGeom>
          <a:solidFill>
            <a:srgbClr val="141516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1001970" y="2084933"/>
            <a:ext cx="242280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v1.0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7725" y="2549723"/>
            <a:ext cx="2414588" cy="1143000"/>
          </a:xfrm>
          <a:prstGeom prst="roundRect">
            <a:avLst>
              <a:gd name="adj" fmla="val 6667"/>
            </a:avLst>
          </a:prstGeom>
          <a:solidFill>
            <a:srgbClr val="010102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009650" y="2711648"/>
            <a:ext cx="2132552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사용자 질문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1009650" y="2925961"/>
            <a:ext cx="2132552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7F8F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"환불 가능한가?"</a:t>
            </a:r>
            <a:endParaRPr lang="en-US" sz="975" dirty="0"/>
          </a:p>
        </p:txBody>
      </p:sp>
      <p:sp>
        <p:nvSpPr>
          <p:cNvPr id="18" name="Text 16"/>
          <p:cNvSpPr/>
          <p:nvPr/>
        </p:nvSpPr>
        <p:spPr>
          <a:xfrm>
            <a:off x="3376613" y="2549723"/>
            <a:ext cx="2414588" cy="1143000"/>
          </a:xfrm>
          <a:prstGeom prst="roundRect">
            <a:avLst>
              <a:gd name="adj" fmla="val 6667"/>
            </a:avLst>
          </a:prstGeom>
          <a:solidFill>
            <a:srgbClr val="1415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376613" y="2554486"/>
            <a:ext cx="2414588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86438" y="2549723"/>
            <a:ext cx="0" cy="114300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76613" y="3687961"/>
            <a:ext cx="2414588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386138" y="2549723"/>
            <a:ext cx="0" cy="1143000"/>
          </a:xfrm>
          <a:prstGeom prst="line">
            <a:avLst/>
          </a:prstGeom>
          <a:noFill/>
          <a:ln w="19050">
            <a:solidFill>
              <a:srgbClr val="5E69D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8063" y="2711648"/>
            <a:ext cx="21228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RETRIEVER</a:t>
            </a:r>
            <a:endParaRPr lang="en-US" sz="825" dirty="0"/>
          </a:p>
        </p:txBody>
      </p:sp>
      <p:sp>
        <p:nvSpPr>
          <p:cNvPr id="24" name="Text 22"/>
          <p:cNvSpPr/>
          <p:nvPr/>
        </p:nvSpPr>
        <p:spPr>
          <a:xfrm>
            <a:off x="3548063" y="2925961"/>
            <a:ext cx="212283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7F8F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cosine ≥ 0.78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3548063" y="3168848"/>
            <a:ext cx="21228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VECTOR_DB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5905500" y="2549723"/>
            <a:ext cx="2414588" cy="1143000"/>
          </a:xfrm>
          <a:prstGeom prst="roundRect">
            <a:avLst>
              <a:gd name="adj" fmla="val 6667"/>
            </a:avLst>
          </a:prstGeom>
          <a:solidFill>
            <a:srgbClr val="1415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5905500" y="2554486"/>
            <a:ext cx="2414587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15325" y="2549723"/>
            <a:ext cx="0" cy="114300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05500" y="3687961"/>
            <a:ext cx="2414587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15025" y="2549723"/>
            <a:ext cx="0" cy="1143000"/>
          </a:xfrm>
          <a:prstGeom prst="line">
            <a:avLst/>
          </a:prstGeom>
          <a:noFill/>
          <a:ln w="19050">
            <a:solidFill>
              <a:srgbClr val="5E69D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76950" y="2711648"/>
            <a:ext cx="21228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AUGMENTER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6076950" y="2925961"/>
            <a:ext cx="212283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7F8F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ctx + question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6076950" y="3168848"/>
            <a:ext cx="21228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+ SYSTEM 지시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8585746" y="3021211"/>
            <a:ext cx="796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→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929688" y="2549723"/>
            <a:ext cx="2414588" cy="1143000"/>
          </a:xfrm>
          <a:prstGeom prst="roundRect">
            <a:avLst>
              <a:gd name="adj" fmla="val 6667"/>
            </a:avLst>
          </a:prstGeom>
          <a:solidFill>
            <a:srgbClr val="1415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8929688" y="2554486"/>
            <a:ext cx="2414588" cy="0"/>
          </a:xfrm>
          <a:prstGeom prst="line">
            <a:avLst/>
          </a:prstGeom>
          <a:noFill/>
          <a:ln w="9525">
            <a:solidFill>
              <a:srgbClr val="5E69D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1339513" y="2549723"/>
            <a:ext cx="0" cy="1143000"/>
          </a:xfrm>
          <a:prstGeom prst="line">
            <a:avLst/>
          </a:prstGeom>
          <a:noFill/>
          <a:ln w="9525">
            <a:solidFill>
              <a:srgbClr val="5E69D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929688" y="3687961"/>
            <a:ext cx="2414588" cy="0"/>
          </a:xfrm>
          <a:prstGeom prst="line">
            <a:avLst/>
          </a:prstGeom>
          <a:noFill/>
          <a:ln w="9525">
            <a:solidFill>
              <a:srgbClr val="5E69D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939213" y="2549723"/>
            <a:ext cx="0" cy="1143000"/>
          </a:xfrm>
          <a:prstGeom prst="line">
            <a:avLst/>
          </a:prstGeom>
          <a:noFill/>
          <a:ln w="19050">
            <a:solidFill>
              <a:srgbClr val="5E6AD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01138" y="2711648"/>
            <a:ext cx="21228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LLM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9101138" y="2925961"/>
            <a:ext cx="2122837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F7F8F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Claude Haiku 4.5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101138" y="3168848"/>
            <a:ext cx="2122837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출처 강제</a:t>
            </a:r>
            <a:endParaRPr lang="en-US" sz="825" dirty="0"/>
          </a:p>
        </p:txBody>
      </p:sp>
      <p:sp>
        <p:nvSpPr>
          <p:cNvPr id="43" name="Shape 41"/>
          <p:cNvSpPr/>
          <p:nvPr/>
        </p:nvSpPr>
        <p:spPr>
          <a:xfrm>
            <a:off x="847725" y="3849886"/>
            <a:ext cx="1049655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7725" y="3968948"/>
            <a:ext cx="1002209" cy="217140"/>
          </a:xfrm>
          <a:prstGeom prst="roundRect">
            <a:avLst>
              <a:gd name="adj" fmla="val 43861322"/>
            </a:avLst>
          </a:prstGeom>
          <a:solidFill>
            <a:srgbClr val="141516"/>
          </a:solidFill>
          <a:ln w="9525">
            <a:solidFill>
              <a:srgbClr val="27A64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952500" y="3997523"/>
            <a:ext cx="80851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27A644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출력 · 출처 포함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002334" y="3977432"/>
            <a:ext cx="262956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"7일 이내 환불 가능합니다 (정책 §3.2 인용)"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9600" y="6456462"/>
            <a:ext cx="124950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모델은 한 부품일 뿐이다.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074450" y="6443663"/>
            <a:ext cx="51810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diagram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9150" y="228600"/>
            <a:ext cx="479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Linear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966192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914400"/>
            <a:ext cx="666271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정직한 비교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151483"/>
            <a:ext cx="111922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파인튜닝 vs RAG, 4가지로 보면.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9600" y="1818233"/>
            <a:ext cx="10972800" cy="3505200"/>
          </a:xfrm>
          <a:prstGeom prst="roundRect">
            <a:avLst>
              <a:gd name="adj" fmla="val 3261"/>
            </a:avLst>
          </a:prstGeom>
          <a:solidFill>
            <a:srgbClr val="010102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19125" y="1827758"/>
            <a:ext cx="2190750" cy="652463"/>
          </a:xfrm>
          <a:prstGeom prst="rect">
            <a:avLst/>
          </a:prstGeom>
          <a:solidFill>
            <a:srgbClr val="0F10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847725" y="2068264"/>
            <a:ext cx="1768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기준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09875" y="1827758"/>
            <a:ext cx="4381500" cy="652463"/>
          </a:xfrm>
          <a:prstGeom prst="rect">
            <a:avLst/>
          </a:prstGeom>
          <a:solidFill>
            <a:srgbClr val="0F10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038475" y="1942058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파인튜닝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8475" y="2208758"/>
            <a:ext cx="40027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A8F9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model.fit()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191375" y="1827758"/>
            <a:ext cx="4381500" cy="652463"/>
          </a:xfrm>
          <a:prstGeom prst="rect">
            <a:avLst/>
          </a:prstGeom>
          <a:solidFill>
            <a:srgbClr val="0F101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419975" y="1942058"/>
            <a:ext cx="400278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RAG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19975" y="2208758"/>
            <a:ext cx="4002786" cy="157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825" dirty="0">
                <a:solidFill>
                  <a:srgbClr val="8A8F98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retrieve + prompt</a:t>
            </a:r>
            <a:endParaRPr lang="en-US" sz="825" dirty="0"/>
          </a:p>
        </p:txBody>
      </p:sp>
      <p:sp>
        <p:nvSpPr>
          <p:cNvPr id="16" name="Shape 14"/>
          <p:cNvSpPr/>
          <p:nvPr/>
        </p:nvSpPr>
        <p:spPr>
          <a:xfrm>
            <a:off x="619125" y="2484983"/>
            <a:ext cx="1095375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7725" y="2768352"/>
            <a:ext cx="1768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초기 비용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38475" y="2642146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$10K~</a:t>
            </a:r>
            <a:endParaRPr lang="en-US" sz="1125" dirty="0"/>
          </a:p>
        </p:txBody>
      </p:sp>
      <p:sp>
        <p:nvSpPr>
          <p:cNvPr id="19" name="Text 17"/>
          <p:cNvSpPr/>
          <p:nvPr/>
        </p:nvSpPr>
        <p:spPr>
          <a:xfrm>
            <a:off x="3038475" y="2894558"/>
            <a:ext cx="4002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GPU 학습 + 데이터셋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19975" y="2642146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5E6AD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$0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7419975" y="2894558"/>
            <a:ext cx="4002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기존 문서 그대로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9125" y="3223171"/>
            <a:ext cx="1095375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7725" y="3506539"/>
            <a:ext cx="1768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반영 속도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038475" y="3380333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수일~수주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3038475" y="3632746"/>
            <a:ext cx="4002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재학습 필요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419975" y="3380333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5E6AD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실시간</a:t>
            </a:r>
            <a:endParaRPr lang="en-US" sz="1125" dirty="0"/>
          </a:p>
        </p:txBody>
      </p:sp>
      <p:sp>
        <p:nvSpPr>
          <p:cNvPr id="27" name="Text 25"/>
          <p:cNvSpPr/>
          <p:nvPr/>
        </p:nvSpPr>
        <p:spPr>
          <a:xfrm>
            <a:off x="7419975" y="3632746"/>
            <a:ext cx="4002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문서 업데이트만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9125" y="3961358"/>
            <a:ext cx="1095375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7725" y="4244727"/>
            <a:ext cx="1768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출처 추적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038475" y="4118521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불가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3038475" y="4370933"/>
            <a:ext cx="4002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가중치 안에 녹음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419975" y="4118521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5E6AD2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가능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7419975" y="4370933"/>
            <a:ext cx="400278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청크 ID 인용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9125" y="4699546"/>
            <a:ext cx="1095375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7725" y="4923383"/>
            <a:ext cx="17682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필요한 곳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038475" y="4901952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스타일·말투 학습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7419975" y="4901952"/>
            <a:ext cx="4002786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사실·최신성·내부 지식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9600" y="6456462"/>
            <a:ext cx="1882226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둘은 적이 아니다. 다만 첫 수는 RAG.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856863" y="6443663"/>
            <a:ext cx="740048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comparison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010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61937"/>
            <a:ext cx="133350" cy="133350"/>
          </a:xfrm>
          <a:prstGeom prst="roundRect">
            <a:avLst>
              <a:gd name="adj" fmla="val 28571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19150" y="228600"/>
            <a:ext cx="4793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Linear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09600" y="966192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2950" y="914400"/>
            <a:ext cx="604790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1주차 액션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151483"/>
            <a:ext cx="11192256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30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월요일에, 이거 셋만.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09600" y="1818233"/>
            <a:ext cx="10972800" cy="2834580"/>
          </a:xfrm>
          <a:prstGeom prst="roundRect">
            <a:avLst>
              <a:gd name="adj" fmla="val 4032"/>
            </a:avLst>
          </a:prstGeom>
          <a:solidFill>
            <a:srgbClr val="0F1011"/>
          </a:solidFill>
          <a:ln w="9525">
            <a:solidFill>
              <a:srgbClr val="23252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076325" y="2440186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41516"/>
          </a:solidFill>
          <a:ln w="9525">
            <a:solidFill>
              <a:srgbClr val="3434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142702" y="2487811"/>
            <a:ext cx="1366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E6AD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33525" y="2356842"/>
            <a:ext cx="5234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자주 받는 질문 50개를 뽑는다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33525" y="2604492"/>
            <a:ext cx="523498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고객지원 로그 · 사내 위키 댓글 · Slack 검색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76325" y="3102173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41516"/>
          </a:solidFill>
          <a:ln w="9525">
            <a:solidFill>
              <a:srgbClr val="3434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142702" y="3149798"/>
            <a:ext cx="1366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E6AD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533525" y="3018830"/>
            <a:ext cx="5234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관련 문서를 청크로 쪼개고 임베딩한다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33525" y="3266480"/>
            <a:ext cx="523498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500자 단위 · pgvector 또는 Supabase Vector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076325" y="3764161"/>
            <a:ext cx="266700" cy="266700"/>
          </a:xfrm>
          <a:prstGeom prst="roundRect">
            <a:avLst>
              <a:gd name="adj" fmla="val 342857"/>
            </a:avLst>
          </a:prstGeom>
          <a:solidFill>
            <a:srgbClr val="141516"/>
          </a:solidFill>
          <a:ln w="9525">
            <a:solidFill>
              <a:srgbClr val="34343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42702" y="3811786"/>
            <a:ext cx="13662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5E6AD2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03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33525" y="3680817"/>
            <a:ext cx="52349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정답률을 측정하고 빈칸을 찾는다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33525" y="3928467"/>
            <a:ext cx="523498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50개 중 N개 정답 → 빠진 문서 보강 → 반복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123063" y="2284958"/>
            <a:ext cx="40724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2100" b="1" dirty="0">
                <a:solidFill>
                  <a:srgbClr val="F7F8F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조립이 학습보다 싸다.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7123063" y="2757339"/>
            <a:ext cx="40724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월요일 오전, 50개 질문 리스트로 시작.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D0D6E0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금요일 오후, 첫 RAG 봇이 답한다.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23063" y="3366939"/>
            <a:ext cx="3992612" cy="481012"/>
          </a:xfrm>
          <a:prstGeom prst="roundRect">
            <a:avLst>
              <a:gd name="adj" fmla="val 15842"/>
            </a:avLst>
          </a:prstGeom>
          <a:solidFill>
            <a:srgbClr val="5E6AD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613428" y="3500289"/>
            <a:ext cx="103212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지금 시작하기 →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7123063" y="4000351"/>
            <a:ext cx="4072464" cy="185738"/>
          </a:xfrm>
          <a:prstGeom prst="rect">
            <a:avLst/>
          </a:prstGeom>
          <a:noFill/>
          <a:ln/>
        </p:spPr>
        <p:txBody>
          <a:bodyPr wrap="square" lIns="3810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8A8F98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슬라이드·코드 → s-edu.ai.kr/rag</a:t>
            </a:r>
            <a:endParaRPr lang="en-US" sz="975" dirty="0"/>
          </a:p>
        </p:txBody>
      </p:sp>
      <p:sp>
        <p:nvSpPr>
          <p:cNvPr id="25" name="Shape 23"/>
          <p:cNvSpPr/>
          <p:nvPr/>
        </p:nvSpPr>
        <p:spPr>
          <a:xfrm>
            <a:off x="609600" y="6324600"/>
            <a:ext cx="10972800" cy="0"/>
          </a:xfrm>
          <a:prstGeom prst="line">
            <a:avLst/>
          </a:prstGeom>
          <a:noFill/>
          <a:ln w="9525">
            <a:solidFill>
              <a:srgbClr val="2325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6456462"/>
            <a:ext cx="235282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2666D"/>
                </a:solidFill>
                <a:latin typeface="Gmarket Sans" pitchFamily="34" charset="0"/>
                <a:ea typeface="Gmarket Sans" pitchFamily="34" charset="-122"/>
                <a:cs typeface="Gmarket Sans" pitchFamily="34" charset="-120"/>
              </a:rPr>
              <a:t>RAG는 LLM 환각을 싸게 잡는 조립 라인이다.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64664" y="6443663"/>
            <a:ext cx="222090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975" dirty="0">
                <a:solidFill>
                  <a:srgbClr val="62666D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end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 입문 5분 (Linear) — html2pptx</dc:title>
  <dc:subject>PptxGenJS Presentation</dc:subject>
  <dc:creator>design.md / Linear</dc:creator>
  <cp:lastModifiedBy>design.md / Linear</cp:lastModifiedBy>
  <cp:revision>1</cp:revision>
  <dcterms:created xsi:type="dcterms:W3CDTF">2026-05-06T09:45:20Z</dcterms:created>
  <dcterms:modified xsi:type="dcterms:W3CDTF">2026-05-06T09:45:20Z</dcterms:modified>
</cp:coreProperties>
</file>